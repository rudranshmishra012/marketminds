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5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70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marketminds-1-b450.onrender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enam.gov.in/" TargetMode="External"/><Relationship Id="rId7" Type="http://schemas.openxmlformats.org/officeDocument/2006/relationships/hyperlink" Target="https://www.pib.gov.in/PressReleasePage.aspx?PRID=2204750&amp;lang=1&amp;reg=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india.gov.in/category/agriculture-rural-environment/subcategory/researchmarketing/details/website-of-agmarknet" TargetMode="External"/><Relationship Id="rId5" Type="http://schemas.openxmlformats.org/officeDocument/2006/relationships/hyperlink" Target="https://enam.gov.in/web/dashboard/live_price" TargetMode="External"/><Relationship Id="rId4" Type="http://schemas.openxmlformats.org/officeDocument/2006/relationships/hyperlink" Target="https://enam.gov.in/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30942" y="18635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410061"/>
            <a:ext cx="7719813" cy="511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SIH26132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Strengthening Market </a:t>
            </a:r>
          </a:p>
          <a:p>
            <a:pPr algn="just">
              <a:lnSpc>
                <a:spcPct val="20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Linkage And Price Discovery For Farmers.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Agriculture, Food Tech And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MarketMinds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8658" y="-50291"/>
            <a:ext cx="11321057" cy="524961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Agricultural Market Intelligence &amp;</a:t>
            </a:r>
            <a:b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Price Discovery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MarketMinds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50" y="-55983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EDF38E-CA9F-46C8-7711-D2E3CD7ED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326" y="982356"/>
            <a:ext cx="1983470" cy="28611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4F6597-0D6B-E4BF-D358-C0866901A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627" y="3843496"/>
            <a:ext cx="5149514" cy="301450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B4D70B-BB29-0913-ACB2-C8E3A3A3BE64}"/>
              </a:ext>
            </a:extLst>
          </p:cNvPr>
          <p:cNvSpPr/>
          <p:nvPr/>
        </p:nvSpPr>
        <p:spPr>
          <a:xfrm>
            <a:off x="162064" y="1170039"/>
            <a:ext cx="4242788" cy="114054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u="sng" dirty="0">
                <a:solidFill>
                  <a:srgbClr val="FFC000"/>
                </a:solidFill>
              </a:rPr>
              <a:t>Real-world issue: </a:t>
            </a:r>
            <a:r>
              <a:rPr lang="en-IN" sz="1600" dirty="0">
                <a:solidFill>
                  <a:schemeClr val="bg1"/>
                </a:solidFill>
              </a:rPr>
              <a:t>Farmers often lack easy access to updated market information and struggle to choose the right market, selling time, and buyer.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30018-C5EA-CB86-DF3E-6B6795BD3DDF}"/>
              </a:ext>
            </a:extLst>
          </p:cNvPr>
          <p:cNvSpPr txBox="1"/>
          <p:nvPr/>
        </p:nvSpPr>
        <p:spPr>
          <a:xfrm>
            <a:off x="3411794" y="3362632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time, and buyer.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B3E5A3-1F67-C977-1E6E-45D77555F043}"/>
              </a:ext>
            </a:extLst>
          </p:cNvPr>
          <p:cNvSpPr/>
          <p:nvPr/>
        </p:nvSpPr>
        <p:spPr>
          <a:xfrm>
            <a:off x="162064" y="2591422"/>
            <a:ext cx="4242788" cy="114054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u="sng" dirty="0">
                <a:solidFill>
                  <a:srgbClr val="FFC000"/>
                </a:solidFill>
              </a:rPr>
              <a:t>Why Important: </a:t>
            </a:r>
            <a:r>
              <a:rPr lang="en-IN" sz="1600" dirty="0">
                <a:solidFill>
                  <a:schemeClr val="bg1"/>
                </a:solidFill>
              </a:rPr>
              <a:t>Price differences, transport and storage costs, changing prices, buyer requirements, and small quantities can reduce farmers actual returns.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4CEDDF-D6D9-AB8C-2C46-2EE39505EC03}"/>
              </a:ext>
            </a:extLst>
          </p:cNvPr>
          <p:cNvSpPr/>
          <p:nvPr/>
        </p:nvSpPr>
        <p:spPr>
          <a:xfrm>
            <a:off x="162064" y="3996860"/>
            <a:ext cx="4242788" cy="114054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u="sng" dirty="0">
                <a:solidFill>
                  <a:srgbClr val="FFC000"/>
                </a:solidFill>
              </a:rPr>
              <a:t>Solution: </a:t>
            </a:r>
            <a:r>
              <a:rPr lang="en-IN" sz="1600" dirty="0">
                <a:solidFill>
                  <a:schemeClr val="bg1"/>
                </a:solidFill>
              </a:rPr>
              <a:t>AI-powered platform compares markets, predicts prices, estimates expected net returns, matches buyers, and supports FPO aggregation.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61F0EF-C4EB-5ADD-EFDF-730498F99EC6}"/>
              </a:ext>
            </a:extLst>
          </p:cNvPr>
          <p:cNvSpPr/>
          <p:nvPr/>
        </p:nvSpPr>
        <p:spPr>
          <a:xfrm>
            <a:off x="7841760" y="1595989"/>
            <a:ext cx="1983470" cy="524961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Price Information Gap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C5AD6E-368A-2533-678B-443130C48E39}"/>
              </a:ext>
            </a:extLst>
          </p:cNvPr>
          <p:cNvSpPr/>
          <p:nvPr/>
        </p:nvSpPr>
        <p:spPr>
          <a:xfrm>
            <a:off x="7849782" y="2405554"/>
            <a:ext cx="1983470" cy="524961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Wrong Market Selection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B47CC2-4436-424C-5C8D-469FA54C0DB7}"/>
              </a:ext>
            </a:extLst>
          </p:cNvPr>
          <p:cNvSpPr/>
          <p:nvPr/>
        </p:nvSpPr>
        <p:spPr>
          <a:xfrm>
            <a:off x="7849782" y="3248761"/>
            <a:ext cx="1983470" cy="524961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Uncertain Selling 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840C84-E06E-987C-ADF3-980BBF7A4284}"/>
              </a:ext>
            </a:extLst>
          </p:cNvPr>
          <p:cNvSpPr/>
          <p:nvPr/>
        </p:nvSpPr>
        <p:spPr>
          <a:xfrm>
            <a:off x="10085007" y="2405553"/>
            <a:ext cx="1983470" cy="524961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Net Return Comparison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41B6A-6E68-0D2F-A7CE-2622041B6C19}"/>
              </a:ext>
            </a:extLst>
          </p:cNvPr>
          <p:cNvSpPr/>
          <p:nvPr/>
        </p:nvSpPr>
        <p:spPr>
          <a:xfrm>
            <a:off x="10106791" y="3256065"/>
            <a:ext cx="1983470" cy="524961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AI Price Prediction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1FEDD1-A2D2-726F-F09C-D90BAD12B814}"/>
              </a:ext>
            </a:extLst>
          </p:cNvPr>
          <p:cNvSpPr/>
          <p:nvPr/>
        </p:nvSpPr>
        <p:spPr>
          <a:xfrm>
            <a:off x="10075340" y="1594386"/>
            <a:ext cx="1983470" cy="524961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Market Price Discovery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FA20B-ED58-2A28-CA42-6B059EE9D6BF}"/>
              </a:ext>
            </a:extLst>
          </p:cNvPr>
          <p:cNvSpPr txBox="1"/>
          <p:nvPr/>
        </p:nvSpPr>
        <p:spPr>
          <a:xfrm>
            <a:off x="2876587" y="5217632"/>
            <a:ext cx="1116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Prototype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44B64DA-DCC9-EDDA-8889-924E71BA2303}"/>
              </a:ext>
            </a:extLst>
          </p:cNvPr>
          <p:cNvCxnSpPr>
            <a:stCxn id="33" idx="1"/>
          </p:cNvCxnSpPr>
          <p:nvPr/>
        </p:nvCxnSpPr>
        <p:spPr>
          <a:xfrm flipH="1">
            <a:off x="2608741" y="5402298"/>
            <a:ext cx="267846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441CC07-04A5-0148-1112-E833D72990BB}"/>
              </a:ext>
            </a:extLst>
          </p:cNvPr>
          <p:cNvSpPr txBox="1"/>
          <p:nvPr/>
        </p:nvSpPr>
        <p:spPr>
          <a:xfrm>
            <a:off x="8367191" y="1151277"/>
            <a:ext cx="704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Risk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C43C6C-24B6-C27E-B95E-3C8F0652609E}"/>
              </a:ext>
            </a:extLst>
          </p:cNvPr>
          <p:cNvSpPr txBox="1"/>
          <p:nvPr/>
        </p:nvSpPr>
        <p:spPr>
          <a:xfrm>
            <a:off x="10490026" y="1169218"/>
            <a:ext cx="12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Solution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0D8477-E70A-FD12-D7CC-6079CF79304C}"/>
              </a:ext>
            </a:extLst>
          </p:cNvPr>
          <p:cNvSpPr txBox="1"/>
          <p:nvPr/>
        </p:nvSpPr>
        <p:spPr>
          <a:xfrm>
            <a:off x="9686727" y="1169218"/>
            <a:ext cx="510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VS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24BD8E-08F0-F63A-B848-ACE033AA0CC0}"/>
              </a:ext>
            </a:extLst>
          </p:cNvPr>
          <p:cNvSpPr/>
          <p:nvPr/>
        </p:nvSpPr>
        <p:spPr>
          <a:xfrm>
            <a:off x="7849782" y="4086462"/>
            <a:ext cx="1983470" cy="524961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Limited Buyer Access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7E5CBB-6C73-7031-B224-11CF1FE53267}"/>
              </a:ext>
            </a:extLst>
          </p:cNvPr>
          <p:cNvSpPr/>
          <p:nvPr/>
        </p:nvSpPr>
        <p:spPr>
          <a:xfrm>
            <a:off x="10070592" y="4086462"/>
            <a:ext cx="1983470" cy="524961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Buyer Matching &amp; FPO Aggregation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C6DBE7B9-9A0F-0D1C-73CD-3BF3676CA4BF}"/>
              </a:ext>
            </a:extLst>
          </p:cNvPr>
          <p:cNvSpPr/>
          <p:nvPr/>
        </p:nvSpPr>
        <p:spPr>
          <a:xfrm>
            <a:off x="9833251" y="4291194"/>
            <a:ext cx="275557" cy="1434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19D6A969-6ED3-0EA7-9D81-302D18A45CEC}"/>
              </a:ext>
            </a:extLst>
          </p:cNvPr>
          <p:cNvSpPr/>
          <p:nvPr/>
        </p:nvSpPr>
        <p:spPr>
          <a:xfrm>
            <a:off x="9833252" y="1813015"/>
            <a:ext cx="275557" cy="1434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49E939CF-1F06-9282-975C-61D5648CD82B}"/>
              </a:ext>
            </a:extLst>
          </p:cNvPr>
          <p:cNvSpPr/>
          <p:nvPr/>
        </p:nvSpPr>
        <p:spPr>
          <a:xfrm>
            <a:off x="9833251" y="3475588"/>
            <a:ext cx="275557" cy="1434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71080667-B7B0-5D1C-78F0-E39E36FEB801}"/>
              </a:ext>
            </a:extLst>
          </p:cNvPr>
          <p:cNvSpPr/>
          <p:nvPr/>
        </p:nvSpPr>
        <p:spPr>
          <a:xfrm>
            <a:off x="9821351" y="2588272"/>
            <a:ext cx="275557" cy="1434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3" name="Graphic 52" descr="Internet with solid fill">
            <a:extLst>
              <a:ext uri="{FF2B5EF4-FFF2-40B4-BE49-F238E27FC236}">
                <a16:creationId xmlns:a16="http://schemas.microsoft.com/office/drawing/2014/main" id="{45291FF9-E81E-4A47-F905-4805CCE80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3916" y="4653431"/>
            <a:ext cx="2085170" cy="2085170"/>
          </a:xfrm>
          <a:prstGeom prst="rect">
            <a:avLst/>
          </a:prstGeom>
        </p:spPr>
      </p:pic>
      <p:sp>
        <p:nvSpPr>
          <p:cNvPr id="2" name="Rectangle 1">
            <a:hlinkClick r:id="rId7"/>
            <a:extLst>
              <a:ext uri="{FF2B5EF4-FFF2-40B4-BE49-F238E27FC236}">
                <a16:creationId xmlns:a16="http://schemas.microsoft.com/office/drawing/2014/main" id="{37E11384-7E4E-8860-A4CF-8E23475B79ED}"/>
              </a:ext>
            </a:extLst>
          </p:cNvPr>
          <p:cNvSpPr/>
          <p:nvPr/>
        </p:nvSpPr>
        <p:spPr>
          <a:xfrm>
            <a:off x="352441" y="5586964"/>
            <a:ext cx="2256299" cy="10596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hlinkClick r:id="rId7"/>
              </a:rPr>
              <a:t>W</a:t>
            </a:r>
            <a:r>
              <a:rPr lang="en-IN" sz="2000" b="1" dirty="0" err="1">
                <a:hlinkClick r:id="rId7"/>
              </a:rPr>
              <a:t>ebsite</a:t>
            </a:r>
            <a:endParaRPr lang="en-IN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Market</a:t>
            </a:r>
          </a:p>
          <a:p>
            <a:pPr algn="ctr"/>
            <a:r>
              <a:rPr lang="en-US"/>
              <a:t>Minds</a:t>
            </a:r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10BB4-0833-DE91-744D-7D2A31751531}"/>
              </a:ext>
            </a:extLst>
          </p:cNvPr>
          <p:cNvSpPr txBox="1"/>
          <p:nvPr/>
        </p:nvSpPr>
        <p:spPr>
          <a:xfrm>
            <a:off x="79412" y="1063837"/>
            <a:ext cx="5933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METHODOLOGY &amp; PROCESS OF</a:t>
            </a:r>
            <a:br>
              <a:rPr lang="en-US" sz="2000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IMPLEMENTATION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C462DE-35F7-ABB3-6EB8-5B69E07D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600" y="3292091"/>
            <a:ext cx="171450" cy="22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0969D9-C4B8-6CAB-D37B-09023C9E8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68222"/>
            <a:ext cx="5324336" cy="412763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83A493-9206-FA96-6F28-F237E7F14323}"/>
              </a:ext>
            </a:extLst>
          </p:cNvPr>
          <p:cNvCxnSpPr/>
          <p:nvPr/>
        </p:nvCxnSpPr>
        <p:spPr>
          <a:xfrm>
            <a:off x="3251114" y="2123384"/>
            <a:ext cx="550607" cy="373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8C9E7C-E62C-752A-AB77-0C8BD6D9E4EA}"/>
              </a:ext>
            </a:extLst>
          </p:cNvPr>
          <p:cNvCxnSpPr>
            <a:cxnSpLocks/>
          </p:cNvCxnSpPr>
          <p:nvPr/>
        </p:nvCxnSpPr>
        <p:spPr>
          <a:xfrm flipH="1">
            <a:off x="4340153" y="3833895"/>
            <a:ext cx="76200" cy="180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CBCEF4-04E3-B948-450A-67DF39539834}"/>
              </a:ext>
            </a:extLst>
          </p:cNvPr>
          <p:cNvCxnSpPr>
            <a:cxnSpLocks/>
          </p:cNvCxnSpPr>
          <p:nvPr/>
        </p:nvCxnSpPr>
        <p:spPr>
          <a:xfrm flipH="1">
            <a:off x="3228086" y="4766473"/>
            <a:ext cx="392678" cy="235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594305-A8FB-FE18-1BA9-54E1B759FFD8}"/>
              </a:ext>
            </a:extLst>
          </p:cNvPr>
          <p:cNvCxnSpPr>
            <a:cxnSpLocks/>
          </p:cNvCxnSpPr>
          <p:nvPr/>
        </p:nvCxnSpPr>
        <p:spPr>
          <a:xfrm flipH="1" flipV="1">
            <a:off x="1683908" y="4617903"/>
            <a:ext cx="412208" cy="297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C14620-443F-A635-5EBF-0BFB89DB97A0}"/>
              </a:ext>
            </a:extLst>
          </p:cNvPr>
          <p:cNvCxnSpPr>
            <a:cxnSpLocks/>
          </p:cNvCxnSpPr>
          <p:nvPr/>
        </p:nvCxnSpPr>
        <p:spPr>
          <a:xfrm flipV="1">
            <a:off x="1091338" y="3786123"/>
            <a:ext cx="135727" cy="145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7E105E-C868-2A05-9F0C-103E5B6EBB19}"/>
              </a:ext>
            </a:extLst>
          </p:cNvPr>
          <p:cNvCxnSpPr>
            <a:cxnSpLocks/>
          </p:cNvCxnSpPr>
          <p:nvPr/>
        </p:nvCxnSpPr>
        <p:spPr>
          <a:xfrm flipV="1">
            <a:off x="1660858" y="2239691"/>
            <a:ext cx="515229" cy="349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19EFF3D-E577-3FD5-CF09-B65E7E365AA5}"/>
              </a:ext>
            </a:extLst>
          </p:cNvPr>
          <p:cNvSpPr txBox="1"/>
          <p:nvPr/>
        </p:nvSpPr>
        <p:spPr>
          <a:xfrm>
            <a:off x="7158421" y="1063837"/>
            <a:ext cx="4647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TECHNICAL ARCHITECTURE &amp; WORKFLOW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31812C6-218C-9083-36CE-950B3AE33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2022" y="1359153"/>
            <a:ext cx="6021336" cy="4289314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3495D6-C83C-EFD7-2507-3BEE364D37B0}"/>
              </a:ext>
            </a:extLst>
          </p:cNvPr>
          <p:cNvSpPr/>
          <p:nvPr/>
        </p:nvSpPr>
        <p:spPr>
          <a:xfrm>
            <a:off x="4209873" y="5788076"/>
            <a:ext cx="1386349" cy="88643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1FF702-13AA-1329-112E-AF9D3DED9EBF}"/>
              </a:ext>
            </a:extLst>
          </p:cNvPr>
          <p:cNvSpPr txBox="1"/>
          <p:nvPr/>
        </p:nvSpPr>
        <p:spPr>
          <a:xfrm>
            <a:off x="5872022" y="5491522"/>
            <a:ext cx="922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GitHub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D3D63A-8D2B-AC48-36F6-5BE6A84BC99F}"/>
              </a:ext>
            </a:extLst>
          </p:cNvPr>
          <p:cNvCxnSpPr>
            <a:stCxn id="38" idx="1"/>
          </p:cNvCxnSpPr>
          <p:nvPr/>
        </p:nvCxnSpPr>
        <p:spPr>
          <a:xfrm flipH="1">
            <a:off x="5596222" y="5691577"/>
            <a:ext cx="275800" cy="276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AD1EC8F0-4DAE-2823-1CA6-054917CAF7CE}"/>
              </a:ext>
            </a:extLst>
          </p:cNvPr>
          <p:cNvSpPr/>
          <p:nvPr/>
        </p:nvSpPr>
        <p:spPr>
          <a:xfrm>
            <a:off x="2613500" y="1594432"/>
            <a:ext cx="276533" cy="238360"/>
          </a:xfrm>
          <a:prstGeom prst="flowChartConnector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B7DD40AA-D573-64F8-F8E9-5D3F4A73D5B8}"/>
              </a:ext>
            </a:extLst>
          </p:cNvPr>
          <p:cNvSpPr/>
          <p:nvPr/>
        </p:nvSpPr>
        <p:spPr>
          <a:xfrm>
            <a:off x="649725" y="3779899"/>
            <a:ext cx="276533" cy="238360"/>
          </a:xfrm>
          <a:prstGeom prst="flowChartConnector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5801455E-20F8-E2EA-9A2C-367CE2879CF5}"/>
              </a:ext>
            </a:extLst>
          </p:cNvPr>
          <p:cNvSpPr/>
          <p:nvPr/>
        </p:nvSpPr>
        <p:spPr>
          <a:xfrm>
            <a:off x="2560918" y="4498723"/>
            <a:ext cx="276533" cy="238360"/>
          </a:xfrm>
          <a:prstGeom prst="flowChartConnector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0D7C6C2D-C65B-2F5D-5135-19A26919166B}"/>
              </a:ext>
            </a:extLst>
          </p:cNvPr>
          <p:cNvSpPr/>
          <p:nvPr/>
        </p:nvSpPr>
        <p:spPr>
          <a:xfrm>
            <a:off x="4041977" y="3808797"/>
            <a:ext cx="200333" cy="180563"/>
          </a:xfrm>
          <a:prstGeom prst="flowChartConnector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9EC6FB32-8AD2-0DD6-A517-232DC73DB1A2}"/>
              </a:ext>
            </a:extLst>
          </p:cNvPr>
          <p:cNvSpPr/>
          <p:nvPr/>
        </p:nvSpPr>
        <p:spPr>
          <a:xfrm>
            <a:off x="3851073" y="2320281"/>
            <a:ext cx="276533" cy="238360"/>
          </a:xfrm>
          <a:prstGeom prst="flowChartConnector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C5D12160-7878-A85D-0937-30562B1A7CE6}"/>
              </a:ext>
            </a:extLst>
          </p:cNvPr>
          <p:cNvSpPr/>
          <p:nvPr/>
        </p:nvSpPr>
        <p:spPr>
          <a:xfrm>
            <a:off x="1114403" y="2320281"/>
            <a:ext cx="276533" cy="238360"/>
          </a:xfrm>
          <a:prstGeom prst="flowChartConnector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39633"/>
            <a:ext cx="1251857" cy="63930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Market</a:t>
            </a:r>
          </a:p>
          <a:p>
            <a:pPr algn="ctr"/>
            <a:r>
              <a:rPr lang="en-US"/>
              <a:t>Minds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6" y="-94644"/>
            <a:ext cx="1932207" cy="9123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CE6954-51B6-273A-F350-848D0D1218C3}"/>
              </a:ext>
            </a:extLst>
          </p:cNvPr>
          <p:cNvSpPr/>
          <p:nvPr/>
        </p:nvSpPr>
        <p:spPr>
          <a:xfrm>
            <a:off x="132567" y="976681"/>
            <a:ext cx="5933936" cy="2288841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⚖️ </a:t>
            </a:r>
            <a:r>
              <a:rPr lang="en-US" sz="2400" b="1" u="sng" dirty="0">
                <a:solidFill>
                  <a:schemeClr val="tx1"/>
                </a:solidFill>
              </a:rPr>
              <a:t>FEASIBILITY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Technical: </a:t>
            </a:r>
            <a:r>
              <a:rPr lang="en-US" dirty="0">
                <a:solidFill>
                  <a:schemeClr val="tx1"/>
                </a:solidFill>
              </a:rPr>
              <a:t>Can be developed using Python, Flask, HTML, CSS, JavaScript and Scikit-learn.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Data Availability: </a:t>
            </a:r>
            <a:r>
              <a:rPr lang="en-US" dirty="0">
                <a:solidFill>
                  <a:schemeClr val="tx1"/>
                </a:solidFill>
              </a:rPr>
              <a:t>Agricultural market-price datasets are readily available for model training.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Cost Effective: </a:t>
            </a:r>
            <a:r>
              <a:rPr lang="en-US" dirty="0">
                <a:solidFill>
                  <a:schemeClr val="tx1"/>
                </a:solidFill>
              </a:rPr>
              <a:t>Uses open-source technologies, keeping development costs low.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195620-A534-3F6F-9318-DECA6A0C9B9F}"/>
              </a:ext>
            </a:extLst>
          </p:cNvPr>
          <p:cNvSpPr/>
          <p:nvPr/>
        </p:nvSpPr>
        <p:spPr>
          <a:xfrm>
            <a:off x="132567" y="3463266"/>
            <a:ext cx="5933936" cy="3173508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🤝 </a:t>
            </a:r>
            <a:r>
              <a:rPr lang="en-US" sz="2400" b="1" u="sng" dirty="0">
                <a:solidFill>
                  <a:schemeClr val="tx1"/>
                </a:solidFill>
              </a:rPr>
              <a:t>VIABILITY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Farmer-Centric:</a:t>
            </a:r>
            <a:r>
              <a:rPr lang="en-US" dirty="0">
                <a:solidFill>
                  <a:schemeClr val="tx1"/>
                </a:solidFill>
              </a:rPr>
              <a:t> Helps farmers compare markets and make informed selling decisions.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Better Price Discovery: </a:t>
            </a:r>
            <a:r>
              <a:rPr lang="en-US" dirty="0">
                <a:solidFill>
                  <a:schemeClr val="tx1"/>
                </a:solidFill>
              </a:rPr>
              <a:t>AI-based predictions can provide useful insights into expected crop prices.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Market Linkage: </a:t>
            </a:r>
            <a:r>
              <a:rPr lang="en-US" dirty="0">
                <a:solidFill>
                  <a:schemeClr val="tx1"/>
                </a:solidFill>
              </a:rPr>
              <a:t>Connects farmers with suitable buyers and facilitates better offers.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Scalable: </a:t>
            </a:r>
            <a:r>
              <a:rPr lang="en-US" dirty="0">
                <a:solidFill>
                  <a:schemeClr val="tx1"/>
                </a:solidFill>
              </a:rPr>
              <a:t>Can be expanded with real-time market APIs, logistics, digital payments and multilingual support.</a:t>
            </a:r>
            <a:endParaRPr lang="en-IN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6BC9EF-2134-0373-245A-C45A1998D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531" y="976681"/>
            <a:ext cx="5258256" cy="22888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8D6AC7-29E7-5578-ACB2-A66BF6BC3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531" y="3463266"/>
            <a:ext cx="5258256" cy="317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7819"/>
            <a:ext cx="1352103" cy="67842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Market</a:t>
            </a:r>
          </a:p>
          <a:p>
            <a:pPr algn="ctr"/>
            <a:r>
              <a:rPr lang="en-US"/>
              <a:t>Minds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3DB05B-1ABF-E181-68FA-DA8FC3E37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2963"/>
            <a:ext cx="12189325" cy="57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1132713" y="118872"/>
            <a:ext cx="97897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67128" y="2564892"/>
            <a:ext cx="62865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rot="5400000">
            <a:off x="2399157" y="2482596"/>
            <a:ext cx="164592" cy="164592"/>
          </a:xfrm>
          <a:prstGeom prst="triangle">
            <a:avLst/>
          </a:prstGeom>
          <a:solidFill>
            <a:srgbClr val="FFB70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8858" y="2564892"/>
            <a:ext cx="62865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rot="5400000">
            <a:off x="4810887" y="2482596"/>
            <a:ext cx="164592" cy="164592"/>
          </a:xfrm>
          <a:prstGeom prst="triangle">
            <a:avLst/>
          </a:prstGeom>
          <a:solidFill>
            <a:srgbClr val="FFB703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0588" y="2564892"/>
            <a:ext cx="62865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 rot="5400000">
            <a:off x="7222617" y="2482596"/>
            <a:ext cx="164592" cy="164592"/>
          </a:xfrm>
          <a:prstGeom prst="triangle">
            <a:avLst/>
          </a:prstGeom>
          <a:solidFill>
            <a:srgbClr val="FFB703"/>
          </a:solidFill>
          <a:ln/>
        </p:spPr>
      </p:sp>
      <p:sp>
        <p:nvSpPr>
          <p:cNvPr id="16" name="Shape 14"/>
          <p:cNvSpPr/>
          <p:nvPr/>
        </p:nvSpPr>
        <p:spPr>
          <a:xfrm>
            <a:off x="9402318" y="2564892"/>
            <a:ext cx="62865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 rot="5400000">
            <a:off x="9634347" y="2482596"/>
            <a:ext cx="164592" cy="164592"/>
          </a:xfrm>
          <a:prstGeom prst="triangl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4028" y="1188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govt. platform for agri trade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75588" y="1783080"/>
            <a:ext cx="0" cy="164592"/>
          </a:xfrm>
          <a:prstGeom prst="line">
            <a:avLst/>
          </a:prstGeom>
          <a:noFill/>
          <a:ln w="12700">
            <a:solidFill>
              <a:srgbClr val="5B6D64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384048" y="1993392"/>
            <a:ext cx="1783080" cy="1143000"/>
          </a:xfrm>
          <a:prstGeom prst="hexagon">
            <a:avLst/>
          </a:prstGeom>
          <a:solidFill>
            <a:srgbClr val="1F7A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" y="2066544"/>
            <a:ext cx="15636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e-NAM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Website</a:t>
            </a:r>
            <a:endParaRPr lang="en-US" sz="1150" dirty="0"/>
          </a:p>
        </p:txBody>
      </p:sp>
      <p:sp>
        <p:nvSpPr>
          <p:cNvPr id="22" name="Text 20">
            <a:hlinkClick r:id="rId3" tooltip="https://enam.gov.in/"/>
          </p:cNvPr>
          <p:cNvSpPr txBox="1"/>
          <p:nvPr/>
        </p:nvSpPr>
        <p:spPr>
          <a:xfrm>
            <a:off x="224028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https://enam.gov.i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enam.gov.in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35758" y="1188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mandi arrivals &amp; prices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87318" y="1783080"/>
            <a:ext cx="0" cy="164592"/>
          </a:xfrm>
          <a:prstGeom prst="line">
            <a:avLst/>
          </a:prstGeom>
          <a:noFill/>
          <a:ln w="12700">
            <a:solidFill>
              <a:srgbClr val="5B6D64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2795778" y="1993392"/>
            <a:ext cx="1783080" cy="1143000"/>
          </a:xfrm>
          <a:prstGeom prst="hexagon">
            <a:avLst/>
          </a:prstGeom>
          <a:solidFill>
            <a:srgbClr val="145C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05506" y="2066544"/>
            <a:ext cx="15636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e-NAM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>
            <a:hlinkClick r:id="rId4" tooltip="https://enam.gov.in/dashboard"/>
          </p:cNvPr>
          <p:cNvSpPr txBox="1"/>
          <p:nvPr/>
        </p:nvSpPr>
        <p:spPr>
          <a:xfrm>
            <a:off x="2635758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https://enam.gov.in/dash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enam.gov.in/dashboard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047488" y="1188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discovery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9048" y="1783080"/>
            <a:ext cx="0" cy="164592"/>
          </a:xfrm>
          <a:prstGeom prst="line">
            <a:avLst/>
          </a:prstGeom>
          <a:noFill/>
          <a:ln w="12700">
            <a:solidFill>
              <a:srgbClr val="5B6D64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>
            <a:off x="5207508" y="1993392"/>
            <a:ext cx="1783080" cy="1143000"/>
          </a:xfrm>
          <a:prstGeom prst="hexagon">
            <a:avLst/>
          </a:prstGeom>
          <a:solidFill>
            <a:srgbClr val="1F7A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17236" y="2066544"/>
            <a:ext cx="15636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e-NAM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LivePrice Info</a:t>
            </a:r>
            <a:endParaRPr lang="en-US" sz="1150" dirty="0"/>
          </a:p>
        </p:txBody>
      </p:sp>
      <p:sp>
        <p:nvSpPr>
          <p:cNvPr id="32" name="Text 30">
            <a:hlinkClick r:id="rId5" tooltip="https://enam.gov.in/web/dashboard/live_price"/>
          </p:cNvPr>
          <p:cNvSpPr txBox="1"/>
          <p:nvPr/>
        </p:nvSpPr>
        <p:spPr>
          <a:xfrm>
            <a:off x="5047488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tooltip="https://enam.gov.in/web/dashboard/live_pr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LivePrice Info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459218" y="1188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mandi price database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10778" y="1783080"/>
            <a:ext cx="0" cy="164592"/>
          </a:xfrm>
          <a:prstGeom prst="line">
            <a:avLst/>
          </a:prstGeom>
          <a:noFill/>
          <a:ln w="12700">
            <a:solidFill>
              <a:srgbClr val="5B6D64"/>
            </a:solidFill>
            <a:prstDash val="sysDot"/>
          </a:ln>
        </p:spPr>
      </p:sp>
      <p:sp>
        <p:nvSpPr>
          <p:cNvPr id="35" name="Shape 33"/>
          <p:cNvSpPr/>
          <p:nvPr/>
        </p:nvSpPr>
        <p:spPr>
          <a:xfrm>
            <a:off x="7619238" y="1993392"/>
            <a:ext cx="1783080" cy="1143000"/>
          </a:xfrm>
          <a:prstGeom prst="hexagon">
            <a:avLst/>
          </a:prstGeom>
          <a:solidFill>
            <a:srgbClr val="145C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28966" y="2066544"/>
            <a:ext cx="15636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of India</a:t>
            </a:r>
            <a:endParaRPr lang="en-US" sz="1150" dirty="0"/>
          </a:p>
        </p:txBody>
      </p:sp>
      <p:sp>
        <p:nvSpPr>
          <p:cNvPr id="37" name="Text 35">
            <a:hlinkClick r:id="rId6" tooltip="https://www.india.gov.in/category/agriculture-rural-environment/subcategory/researchmarketing/details/website-of-agmarknet"/>
          </p:cNvPr>
          <p:cNvSpPr txBox="1"/>
          <p:nvPr/>
        </p:nvSpPr>
        <p:spPr>
          <a:xfrm>
            <a:off x="7459218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www.india.gov.in/category/agriculture-rural-environment/subcategory/researchmarketing/details/website-of-agmark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india.gov.in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870948" y="1188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real-time prices help farmers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22508" y="1783080"/>
            <a:ext cx="0" cy="164592"/>
          </a:xfrm>
          <a:prstGeom prst="line">
            <a:avLst/>
          </a:prstGeom>
          <a:noFill/>
          <a:ln w="12700">
            <a:solidFill>
              <a:srgbClr val="5B6D64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10030968" y="1993392"/>
            <a:ext cx="1783080" cy="1143000"/>
          </a:xfrm>
          <a:prstGeom prst="hexagon">
            <a:avLst/>
          </a:prstGeom>
          <a:solidFill>
            <a:srgbClr val="1F7A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140696" y="2066544"/>
            <a:ext cx="15636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e-NAM Empowers Farmers</a:t>
            </a:r>
            <a:endParaRPr lang="en-US" sz="1150" dirty="0"/>
          </a:p>
        </p:txBody>
      </p:sp>
      <p:sp>
        <p:nvSpPr>
          <p:cNvPr id="42" name="Text 40">
            <a:hlinkClick r:id="rId7" tooltip="https://www.pib.gov.in/PressReleasePage.aspx?PRID=2204750&amp;lang=1&amp;reg=1"/>
          </p:cNvPr>
          <p:cNvSpPr txBox="1"/>
          <p:nvPr/>
        </p:nvSpPr>
        <p:spPr>
          <a:xfrm>
            <a:off x="9870948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tooltip="https://www.pib.gov.in/PressReleasePage.aspx?PRID=2204750&amp;lang=1&amp;reg=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pib.gov.in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6576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FOCUS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65760" y="4187952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6F4"/>
          </a:solidFill>
          <a:ln w="12700">
            <a:solidFill>
              <a:srgbClr val="D8E3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187952"/>
            <a:ext cx="82296" cy="10515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5216" y="427939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C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Understanding &amp; Gap Analysis</a:t>
            </a:r>
            <a:endParaRPr lang="en-US" sz="11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real-time price access, mandi price gaps hurt bargaining power and direct buyer links are limited.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17920" y="4187952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6F4"/>
          </a:solidFill>
          <a:ln w="12700">
            <a:solidFill>
              <a:srgbClr val="D8E3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4187952"/>
            <a:ext cx="82296" cy="10515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37376" y="427939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C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Market Data Analysis</a:t>
            </a:r>
            <a:endParaRPr lang="en-US" sz="11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mandi price, arrivals &amp; commodity data, transport cost and market demand shape selling decisions.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65760" y="5468112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6F4"/>
          </a:solidFill>
          <a:ln w="12700">
            <a:solidFill>
              <a:srgbClr val="D8E3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5468112"/>
            <a:ext cx="82296" cy="10515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85216" y="555955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C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Existing Platform Study</a:t>
            </a:r>
            <a:endParaRPr lang="en-US" sz="11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e-NAM for digital agri trading and AGMARKNET 2.0 for real-time mandi price &amp; arrival information.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17920" y="5468112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6F4"/>
          </a:solidFill>
          <a:ln w="12700">
            <a:solidFill>
              <a:srgbClr val="D8E3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5468112"/>
            <a:ext cx="82296" cy="10515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37376" y="555955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C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Technology Research</a:t>
            </a:r>
            <a:endParaRPr lang="en-US" sz="11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can analyze historical prices &amp; trends, APIs enable live data, mobile-first improves farmer accessibility.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1152144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9169C5B-DD78-81F7-591D-480475F81B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373" y="109728"/>
            <a:ext cx="1639267" cy="774031"/>
          </a:xfrm>
          <a:prstGeom prst="rect">
            <a:avLst/>
          </a:prstGeom>
        </p:spPr>
      </p:pic>
      <p:sp>
        <p:nvSpPr>
          <p:cNvPr id="62" name="Oval 61" descr="Your startup LOGO">
            <a:extLst>
              <a:ext uri="{FF2B5EF4-FFF2-40B4-BE49-F238E27FC236}">
                <a16:creationId xmlns:a16="http://schemas.microsoft.com/office/drawing/2014/main" id="{9837830B-3B47-FA75-A0E6-80F8166B02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9917" y="125354"/>
            <a:ext cx="1251857" cy="807334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Market</a:t>
            </a:r>
          </a:p>
          <a:p>
            <a:pPr algn="ctr"/>
            <a:r>
              <a:rPr lang="en-US" dirty="0"/>
              <a:t>Minds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496</Words>
  <Application>Microsoft Office PowerPoint</Application>
  <PresentationFormat>Widescreen</PresentationFormat>
  <Paragraphs>101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 AI-Powered Agricultural Market Intelligence &amp; Price Discovery</vt:lpstr>
      <vt:lpstr>TECHNICAL APPROACH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Fariya Zehra</cp:lastModifiedBy>
  <cp:revision>2</cp:revision>
  <dcterms:created xsi:type="dcterms:W3CDTF">2013-12-12T18:46:50Z</dcterms:created>
  <dcterms:modified xsi:type="dcterms:W3CDTF">2026-09-19T14:52:06Z</dcterms:modified>
  <cp:category/>
</cp:coreProperties>
</file>